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8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rimson Pro Semi Bold" panose="020B0604020202020204" charset="0"/>
      <p:regular r:id="rId17"/>
    </p:embeddedFont>
    <p:embeddedFont>
      <p:font typeface="Heebo" pitchFamily="2" charset="-79"/>
      <p:regular r:id="rId18"/>
      <p:bold r:id="rId19"/>
    </p:embeddedFont>
    <p:embeddedFont>
      <p:font typeface="Noto Sans" panose="020B0502040204020203" pitchFamily="34" charset="0"/>
      <p:regular r:id="rId20"/>
      <p:italic r:id="rId21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3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62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91F35E-5176-4E4C-1F04-8942D3BC89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" t="10266" r="-1" b="10167"/>
          <a:stretch/>
        </p:blipFill>
        <p:spPr>
          <a:xfrm>
            <a:off x="0" y="-74299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231" y="5432051"/>
            <a:ext cx="7106195" cy="272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16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Идрисов Ильсур Рашитович, группа 22СА-1</a:t>
            </a:r>
            <a:endParaRPr lang="en-US" sz="2160" dirty="0">
              <a:solidFill>
                <a:srgbClr val="002060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036527" y="3365402"/>
            <a:ext cx="8223612" cy="26093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5280" i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Создание</a:t>
            </a:r>
            <a:endParaRPr lang="ru-RU" sz="5280" i="1" dirty="0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5280" i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   </a:t>
            </a:r>
            <a:r>
              <a:rPr lang="ru-RU" sz="5280" i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автоматического </a:t>
            </a:r>
            <a:r>
              <a:rPr lang="en-US" sz="5280" i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		   </a:t>
            </a:r>
            <a:r>
              <a:rPr lang="ru-RU" sz="5280" i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управления сетью</a:t>
            </a:r>
            <a:endParaRPr lang="en-US" sz="5280" i="1" dirty="0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endParaRPr lang="en-US" sz="5280" i="1" dirty="0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5280" i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		</a:t>
            </a:r>
            <a:endParaRPr lang="ru-RU" sz="9600" i="1" dirty="0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D1282-F7A3-F253-EE2F-D6A0AA583041}"/>
              </a:ext>
            </a:extLst>
          </p:cNvPr>
          <p:cNvSpPr txBox="1"/>
          <p:nvPr/>
        </p:nvSpPr>
        <p:spPr>
          <a:xfrm>
            <a:off x="9255513" y="4548398"/>
            <a:ext cx="26168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0" i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SDN</a:t>
            </a:r>
            <a:r>
              <a:rPr lang="en-US" sz="8000" i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ru-RU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3628" y="608648"/>
            <a:ext cx="778954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Что такое SDN и почему это важно?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63628" y="2108597"/>
            <a:ext cx="3797975" cy="3120152"/>
          </a:xfrm>
          <a:prstGeom prst="roundRect">
            <a:avLst>
              <a:gd name="adj" fmla="val 93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6357104" y="2302073"/>
            <a:ext cx="580549" cy="580549"/>
          </a:xfrm>
          <a:prstGeom prst="roundRect">
            <a:avLst>
              <a:gd name="adj" fmla="val 15749033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6767" y="2461736"/>
            <a:ext cx="261223" cy="2612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7104" y="3076099"/>
            <a:ext cx="24651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Разделение функций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357104" y="3494603"/>
            <a:ext cx="3411022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SDN (Software-Defined Networking) отделяет уровень управления (Control Plane) от уровня передачи данных (Data Plane).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155079" y="2108597"/>
            <a:ext cx="3798094" cy="3120152"/>
          </a:xfrm>
          <a:prstGeom prst="roundRect">
            <a:avLst>
              <a:gd name="adj" fmla="val 93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/>
          <p:cNvSpPr/>
          <p:nvPr/>
        </p:nvSpPr>
        <p:spPr>
          <a:xfrm>
            <a:off x="10348555" y="2302073"/>
            <a:ext cx="580549" cy="580549"/>
          </a:xfrm>
          <a:prstGeom prst="roundRect">
            <a:avLst>
              <a:gd name="adj" fmla="val 15749033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8218" y="2461736"/>
            <a:ext cx="261223" cy="2612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48555" y="3076099"/>
            <a:ext cx="34111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Централизованный контроль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10348555" y="3797022"/>
            <a:ext cx="3411141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Централизованный контроллер управляет всей сетью, что значительно упрощает настройку, мониторинг и масштабирование.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163628" y="5422225"/>
            <a:ext cx="7789545" cy="21986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0"/>
          <p:cNvSpPr/>
          <p:nvPr/>
        </p:nvSpPr>
        <p:spPr>
          <a:xfrm>
            <a:off x="6357104" y="5615702"/>
            <a:ext cx="580549" cy="580549"/>
          </a:xfrm>
          <a:prstGeom prst="roundRect">
            <a:avLst>
              <a:gd name="adj" fmla="val 15749033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6767" y="5775365"/>
            <a:ext cx="261223" cy="26122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57104" y="6389727"/>
            <a:ext cx="24189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Ответ на вызовы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6357104" y="6808232"/>
            <a:ext cx="740259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Растущие потребности IoT, облачных вычислений и BYOD (Bring Your Own Device) требуют гибкости и высокой степени автоматизации сети.</a:t>
            </a:r>
            <a:endParaRPr lang="en-US" sz="15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52F5D66-5E43-35FE-553D-B96DA63E1BE6}"/>
              </a:ext>
            </a:extLst>
          </p:cNvPr>
          <p:cNvSpPr/>
          <p:nvPr/>
        </p:nvSpPr>
        <p:spPr>
          <a:xfrm>
            <a:off x="12822148" y="7767263"/>
            <a:ext cx="1695236" cy="34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9757"/>
            <a:ext cx="125906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Архитектура SDN: три уровня взаимодействия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72164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206234"/>
            <a:ext cx="38928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Инфраструктурный уровень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696653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Коммутаторы и маршрутизаторы — физические или виртуальные устройства, которые занимаются непосредственной передачей пакетов данных.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072164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206234"/>
            <a:ext cx="28900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Уровень управления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3696653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Централизованный SDN-контроллер, который принимает ключевые решения о маршрутизации и политиках.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072164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206234"/>
            <a:ext cx="30100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Уровень приложений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3696653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SDN-приложения, которые задают бизнес-логику и политики через программные интерфейсы (API) контроллеру.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993130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6321981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27661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Протокол OpenFlow является ключевым стандартом, который обеспечивает связь и передачу инструкций между контроллером и сетевыми устройствами.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1966F58-2369-57F0-ED05-EF01AA53F2C0}"/>
              </a:ext>
            </a:extLst>
          </p:cNvPr>
          <p:cNvSpPr/>
          <p:nvPr/>
        </p:nvSpPr>
        <p:spPr>
          <a:xfrm>
            <a:off x="12822148" y="7767263"/>
            <a:ext cx="1695236" cy="34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6936" y="587678"/>
            <a:ext cx="6372582" cy="6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Схема архитектуры SDN</a:t>
            </a:r>
            <a:endParaRPr lang="en-US" sz="43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66368E-D0BE-D91B-AFB6-6E4FA6916563}"/>
              </a:ext>
            </a:extLst>
          </p:cNvPr>
          <p:cNvSpPr/>
          <p:nvPr/>
        </p:nvSpPr>
        <p:spPr>
          <a:xfrm>
            <a:off x="12822148" y="7767263"/>
            <a:ext cx="1695236" cy="34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 descr="SDN &amp; NFV и при чем тут Облака / Хабр">
            <a:extLst>
              <a:ext uri="{FF2B5EF4-FFF2-40B4-BE49-F238E27FC236}">
                <a16:creationId xmlns:a16="http://schemas.microsoft.com/office/drawing/2014/main" id="{FDA8476D-19AD-321E-CC35-9787889A9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65" y="1947165"/>
            <a:ext cx="10966206" cy="6056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13074491" cy="13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Автоматизация управления: ключевые возможности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7954" y="2534126"/>
            <a:ext cx="7627739" cy="71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Централизованное и </a:t>
            </a:r>
            <a:r>
              <a:rPr lang="en-US" sz="1750" dirty="0">
                <a:latin typeface="Heebo" pitchFamily="34" charset="0"/>
                <a:ea typeface="Heebo" pitchFamily="34" charset="-122"/>
                <a:cs typeface="Heebo" pitchFamily="34" charset="-120"/>
              </a:rPr>
              <a:t>мгновенное изменение политик 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безопасности и маршрутизации с единой точки управления.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77954" y="3323153"/>
            <a:ext cx="7627739" cy="71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Быстрое и гибкое развертывание новых сетевых сервисов и масштабирование ресурсов в зависимости от нагрузки.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77954" y="4112181"/>
            <a:ext cx="7627739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Глубокая интеграция с ведущими облачными платформами (например, OpenStack, Kubernetes) для автоматического выделения ресурсов.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7954" y="5256848"/>
            <a:ext cx="7627739" cy="1422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Пример: VK Cloud использует комбинацию стандартного SDN-решения Neutron и собственного решения </a:t>
            </a:r>
            <a:r>
              <a:rPr lang="en-US" sz="17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Sprut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для обеспечения надежности и высокой масштабируемости облачной инфраструктуры.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524" y="2584133"/>
            <a:ext cx="4904423" cy="4904423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1848376-0046-D304-E79D-D08EDC56B8F6}"/>
              </a:ext>
            </a:extLst>
          </p:cNvPr>
          <p:cNvSpPr/>
          <p:nvPr/>
        </p:nvSpPr>
        <p:spPr>
          <a:xfrm>
            <a:off x="12822148" y="7767263"/>
            <a:ext cx="1695236" cy="34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012" y="570904"/>
            <a:ext cx="7567643" cy="768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50"/>
              </a:lnSpc>
            </a:pPr>
            <a:r>
              <a:rPr lang="en-US" sz="4000" b="1" dirty="0">
                <a:latin typeface="Crimson Pro Semi Bold" panose="020B0604020202020204" charset="0"/>
              </a:rPr>
              <a:t>The POX Network software platform: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12" y="1630799"/>
            <a:ext cx="5731431" cy="57314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65977" y="1630799"/>
            <a:ext cx="7107912" cy="1822013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6843117" y="1630799"/>
            <a:ext cx="91440" cy="1822013"/>
          </a:xfrm>
          <a:prstGeom prst="roundRect">
            <a:avLst>
              <a:gd name="adj" fmla="val 31125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7147084" y="1843326"/>
            <a:ext cx="288869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Гибкость и адаптивность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7084" y="2329458"/>
            <a:ext cx="6614279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Проект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с открытым </a:t>
            </a:r>
            <a:r>
              <a:rPr lang="en-US" sz="145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исходным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45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кодом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r>
              <a:rPr lang="en-US" sz="145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предоставля</a:t>
            </a:r>
            <a:r>
              <a:rPr lang="ru-RU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е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 широкие возможности для кастомизации и быстрой адаптации к новым требованиям.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65977" y="3642479"/>
            <a:ext cx="7107912" cy="1822013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6843117" y="3642479"/>
            <a:ext cx="91440" cy="1822013"/>
          </a:xfrm>
          <a:prstGeom prst="roundRect">
            <a:avLst>
              <a:gd name="adj" fmla="val 31125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7147084" y="3855006"/>
            <a:ext cx="237160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Активное развитие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084" y="4341138"/>
            <a:ext cx="6614279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Мощное сообщество </a:t>
            </a:r>
            <a:r>
              <a:rPr lang="en-US" sz="145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разработчиков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45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способствует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постоянному внедрению инноваций и улучшению стандартов.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865977" y="5654159"/>
            <a:ext cx="7107912" cy="1822013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843117" y="5654159"/>
            <a:ext cx="91440" cy="1822013"/>
          </a:xfrm>
          <a:prstGeom prst="roundRect">
            <a:avLst>
              <a:gd name="adj" fmla="val 31125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7147084" y="5866686"/>
            <a:ext cx="237160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Сетевая ОС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147084" y="6352818"/>
            <a:ext cx="6614279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SDN, управляемый открытым кодом, выступает в роли сетевой операционной системы, обеспечивая динамическое и эффективное управление сетевыми ресурсами.</a:t>
            </a:r>
            <a:endParaRPr lang="en-US" sz="14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FC1C8E6-FC27-C02D-AA07-5EE2C72085EE}"/>
              </a:ext>
            </a:extLst>
          </p:cNvPr>
          <p:cNvSpPr/>
          <p:nvPr/>
        </p:nvSpPr>
        <p:spPr>
          <a:xfrm>
            <a:off x="12822148" y="7767263"/>
            <a:ext cx="1695236" cy="34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803F84-BCA9-D361-56CE-FDC5C6BB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3238" y="7745538"/>
            <a:ext cx="1704975" cy="36195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DDCDA37-4772-41EB-C1EF-973B25DAEF78}"/>
              </a:ext>
            </a:extLst>
          </p:cNvPr>
          <p:cNvSpPr/>
          <p:nvPr/>
        </p:nvSpPr>
        <p:spPr>
          <a:xfrm>
            <a:off x="305038" y="991948"/>
            <a:ext cx="8085762" cy="147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4450" dirty="0"/>
              <a:t>Создание конфигурационного </a:t>
            </a:r>
            <a:endParaRPr lang="en-US" sz="4450" dirty="0"/>
          </a:p>
          <a:p>
            <a:pPr marL="0" indent="0" algn="ctr">
              <a:lnSpc>
                <a:spcPts val="5550"/>
              </a:lnSpc>
              <a:buNone/>
            </a:pPr>
            <a:r>
              <a:rPr lang="ru-RU" sz="4450" dirty="0"/>
              <a:t>файла</a:t>
            </a:r>
            <a:r>
              <a:rPr lang="en-US" sz="4450" dirty="0"/>
              <a:t> SDN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26E1E4-E064-3562-F687-E3CF2FFFF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872" y="0"/>
            <a:ext cx="5753528" cy="8231958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E77C427A-F3AB-E9DA-4599-E591FD869779}"/>
              </a:ext>
            </a:extLst>
          </p:cNvPr>
          <p:cNvSpPr/>
          <p:nvPr/>
        </p:nvSpPr>
        <p:spPr>
          <a:xfrm>
            <a:off x="578225" y="3232514"/>
            <a:ext cx="7541230" cy="1396950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E85B161-F5F3-26F5-5311-15C809CA1A27}"/>
              </a:ext>
            </a:extLst>
          </p:cNvPr>
          <p:cNvSpPr/>
          <p:nvPr/>
        </p:nvSpPr>
        <p:spPr>
          <a:xfrm>
            <a:off x="578224" y="3232518"/>
            <a:ext cx="93283" cy="1396946"/>
          </a:xfrm>
          <a:prstGeom prst="roundRect">
            <a:avLst>
              <a:gd name="adj" fmla="val 31125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8149D2A8-33C9-7B24-C179-844CFE0D8F7E}"/>
              </a:ext>
            </a:extLst>
          </p:cNvPr>
          <p:cNvSpPr/>
          <p:nvPr/>
        </p:nvSpPr>
        <p:spPr>
          <a:xfrm>
            <a:off x="576383" y="4881479"/>
            <a:ext cx="7543072" cy="1714529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C0DE87E-E575-2891-BBD4-F2BB36151C3F}"/>
              </a:ext>
            </a:extLst>
          </p:cNvPr>
          <p:cNvSpPr/>
          <p:nvPr/>
        </p:nvSpPr>
        <p:spPr>
          <a:xfrm>
            <a:off x="576382" y="4881480"/>
            <a:ext cx="93306" cy="1714529"/>
          </a:xfrm>
          <a:prstGeom prst="roundRect">
            <a:avLst>
              <a:gd name="adj" fmla="val 31125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7E15B-6509-FF9B-C167-E297E1C50967}"/>
              </a:ext>
            </a:extLst>
          </p:cNvPr>
          <p:cNvSpPr txBox="1"/>
          <p:nvPr/>
        </p:nvSpPr>
        <p:spPr>
          <a:xfrm>
            <a:off x="725364" y="5046245"/>
            <a:ext cx="75430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Для демонстрации возможностей </a:t>
            </a:r>
            <a:r>
              <a:rPr lang="en-US" sz="2800" dirty="0"/>
              <a:t>SDN,</a:t>
            </a:r>
            <a:r>
              <a:rPr lang="ru-RU" sz="2800" dirty="0"/>
              <a:t> был написан </a:t>
            </a:r>
            <a:r>
              <a:rPr lang="en-US" sz="2800" dirty="0"/>
              <a:t>Firewall, </a:t>
            </a:r>
            <a:r>
              <a:rPr lang="ru-RU" sz="2800" dirty="0"/>
              <a:t>который блокирует пакеты с сайтов «</a:t>
            </a:r>
            <a:r>
              <a:rPr lang="en-US" sz="2800" dirty="0"/>
              <a:t>example.com</a:t>
            </a:r>
            <a:r>
              <a:rPr lang="ru-RU" sz="2800" dirty="0"/>
              <a:t>»</a:t>
            </a:r>
            <a:r>
              <a:rPr lang="en-US" sz="2800" dirty="0"/>
              <a:t> </a:t>
            </a:r>
            <a:r>
              <a:rPr lang="ru-RU" sz="2800" dirty="0"/>
              <a:t>и «</a:t>
            </a:r>
            <a:r>
              <a:rPr lang="en-US" sz="2800" dirty="0"/>
              <a:t>test.org</a:t>
            </a:r>
            <a:r>
              <a:rPr lang="ru-RU" sz="2800" dirty="0"/>
              <a:t>»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A165A-F5F1-08E6-B654-05FC4B7CB483}"/>
              </a:ext>
            </a:extLst>
          </p:cNvPr>
          <p:cNvSpPr txBox="1"/>
          <p:nvPr/>
        </p:nvSpPr>
        <p:spPr>
          <a:xfrm>
            <a:off x="771083" y="3440421"/>
            <a:ext cx="73008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В</a:t>
            </a:r>
            <a:r>
              <a:rPr lang="en-US" sz="2800" dirty="0"/>
              <a:t> POX </a:t>
            </a:r>
            <a:r>
              <a:rPr lang="ru-RU" sz="2800" dirty="0"/>
              <a:t>для написания конфигурации используется язык программирования </a:t>
            </a:r>
            <a:r>
              <a:rPr lang="en-US" sz="2800" dirty="0"/>
              <a:t>Python.</a:t>
            </a:r>
          </a:p>
        </p:txBody>
      </p:sp>
    </p:spTree>
    <p:extLst>
      <p:ext uri="{BB962C8B-B14F-4D97-AF65-F5344CB8AC3E}">
        <p14:creationId xmlns:p14="http://schemas.microsoft.com/office/powerpoint/2010/main" val="4158642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320788-9404-3770-70EC-C2EC026C0FA5}"/>
              </a:ext>
            </a:extLst>
          </p:cNvPr>
          <p:cNvSpPr/>
          <p:nvPr/>
        </p:nvSpPr>
        <p:spPr>
          <a:xfrm>
            <a:off x="12822148" y="7767263"/>
            <a:ext cx="1695236" cy="34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79738-4D3E-216C-18DB-646C565F6617}"/>
              </a:ext>
            </a:extLst>
          </p:cNvPr>
          <p:cNvSpPr txBox="1"/>
          <p:nvPr/>
        </p:nvSpPr>
        <p:spPr>
          <a:xfrm>
            <a:off x="1068511" y="616921"/>
            <a:ext cx="57432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OpenVSwitch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001D5-5ADC-3990-1444-194498F0BE5A}"/>
              </a:ext>
            </a:extLst>
          </p:cNvPr>
          <p:cNvSpPr txBox="1"/>
          <p:nvPr/>
        </p:nvSpPr>
        <p:spPr>
          <a:xfrm>
            <a:off x="693503" y="4758676"/>
            <a:ext cx="3267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apt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get install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openvswitch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B310C-20BF-66D1-A885-F83F6F48A765}"/>
              </a:ext>
            </a:extLst>
          </p:cNvPr>
          <p:cNvSpPr txBox="1"/>
          <p:nvPr/>
        </p:nvSpPr>
        <p:spPr>
          <a:xfrm>
            <a:off x="693503" y="5183151"/>
            <a:ext cx="3267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systemctl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enable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openvswitch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9E05E-0998-3EB2-CCA5-AEA52C038F0C}"/>
              </a:ext>
            </a:extLst>
          </p:cNvPr>
          <p:cNvSpPr txBox="1"/>
          <p:nvPr/>
        </p:nvSpPr>
        <p:spPr>
          <a:xfrm>
            <a:off x="693503" y="5598986"/>
            <a:ext cx="3251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systemctl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start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openvswitch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A8142-F7A9-5C0B-8CE0-4136146EEF17}"/>
              </a:ext>
            </a:extLst>
          </p:cNvPr>
          <p:cNvSpPr txBox="1"/>
          <p:nvPr/>
        </p:nvSpPr>
        <p:spPr>
          <a:xfrm>
            <a:off x="693503" y="6014821"/>
            <a:ext cx="2393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ovs-vsctl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add-br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br0»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1B4222-06AE-1A53-64DD-1C2CEB51C918}"/>
              </a:ext>
            </a:extLst>
          </p:cNvPr>
          <p:cNvSpPr txBox="1"/>
          <p:nvPr/>
        </p:nvSpPr>
        <p:spPr>
          <a:xfrm>
            <a:off x="693503" y="6430656"/>
            <a:ext cx="35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ovs-vsctl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add-port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br0 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ns18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 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5BC3FD-A1E2-5427-2D11-7C9686CD084D}"/>
              </a:ext>
            </a:extLst>
          </p:cNvPr>
          <p:cNvSpPr txBox="1"/>
          <p:nvPr/>
        </p:nvSpPr>
        <p:spPr>
          <a:xfrm>
            <a:off x="693503" y="6842719"/>
            <a:ext cx="5619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sudo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ovs-vsctl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set bridge br0 protocols=OpenFlow10»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7DD803-63F7-D9A1-24CA-499B3C35A8EA}"/>
              </a:ext>
            </a:extLst>
          </p:cNvPr>
          <p:cNvSpPr txBox="1"/>
          <p:nvPr/>
        </p:nvSpPr>
        <p:spPr>
          <a:xfrm>
            <a:off x="693503" y="7249914"/>
            <a:ext cx="5044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ovs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vsctl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set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controller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tcp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:192.168.2.1:6633»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470E2E5-CCC2-75E6-9DE0-205DB519E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18" t="-151" r="23853" b="151"/>
          <a:stretch>
            <a:fillRect/>
          </a:stretch>
        </p:blipFill>
        <p:spPr>
          <a:xfrm>
            <a:off x="8049802" y="195209"/>
            <a:ext cx="6334018" cy="78083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4CFD778-5326-9468-E1FF-91AE6CF199E0}"/>
              </a:ext>
            </a:extLst>
          </p:cNvPr>
          <p:cNvSpPr txBox="1"/>
          <p:nvPr/>
        </p:nvSpPr>
        <p:spPr>
          <a:xfrm>
            <a:off x="952926" y="4114800"/>
            <a:ext cx="3359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К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оманды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5F65DA-EDA6-E40D-00D3-17D065152431}"/>
              </a:ext>
            </a:extLst>
          </p:cNvPr>
          <p:cNvSpPr txBox="1"/>
          <p:nvPr/>
        </p:nvSpPr>
        <p:spPr>
          <a:xfrm>
            <a:off x="693503" y="1707923"/>
            <a:ext cx="633401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/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Скачиваем пакет «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OpenVSwitch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»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с официальных репозиториев. Настраиваем мост между сервером на котором работает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SDN 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и нашими коммутаторами. И назначаем порт с которого мы будем управлять нашим коммутатором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4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804B5FE-2963-2414-F48B-33204B7270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5" b="21228"/>
          <a:stretch/>
        </p:blipFill>
        <p:spPr bwMode="auto">
          <a:xfrm>
            <a:off x="1497526" y="4757886"/>
            <a:ext cx="11530105" cy="196681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594EF9-51F6-91E6-8FCC-18446C620790}"/>
              </a:ext>
            </a:extLst>
          </p:cNvPr>
          <p:cNvSpPr txBox="1"/>
          <p:nvPr/>
        </p:nvSpPr>
        <p:spPr>
          <a:xfrm>
            <a:off x="1425607" y="804511"/>
            <a:ext cx="62594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/>
              <a:t>Настройка </a:t>
            </a:r>
            <a:r>
              <a:rPr lang="en-US" sz="4000" dirty="0"/>
              <a:t>SDN </a:t>
            </a:r>
            <a:r>
              <a:rPr lang="ru-RU" sz="4000" dirty="0"/>
              <a:t>сервера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57401-B9C9-B838-9FD1-8042A354C558}"/>
              </a:ext>
            </a:extLst>
          </p:cNvPr>
          <p:cNvSpPr txBox="1"/>
          <p:nvPr/>
        </p:nvSpPr>
        <p:spPr>
          <a:xfrm>
            <a:off x="1425606" y="1927346"/>
            <a:ext cx="11530105" cy="2594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ru-RU" sz="2400" dirty="0">
                <a:latin typeface="Times New Roman" panose="02020603050405020304" pitchFamily="18" charset="0"/>
              </a:rPr>
              <a:t>Для работы нашего сервера нам нужно скачать программы </a:t>
            </a:r>
            <a:r>
              <a:rPr lang="en-US" sz="2400" dirty="0">
                <a:latin typeface="Times New Roman" panose="02020603050405020304" pitchFamily="18" charset="0"/>
              </a:rPr>
              <a:t>git, python3 </a:t>
            </a:r>
            <a:r>
              <a:rPr lang="ru-RU" sz="2400" dirty="0">
                <a:latin typeface="Times New Roman" panose="02020603050405020304" pitchFamily="18" charset="0"/>
              </a:rPr>
              <a:t>и </a:t>
            </a:r>
            <a:r>
              <a:rPr lang="en-US" sz="2400" dirty="0">
                <a:latin typeface="Times New Roman" panose="02020603050405020304" pitchFamily="18" charset="0"/>
              </a:rPr>
              <a:t>pip. </a:t>
            </a:r>
            <a:r>
              <a:rPr lang="ru-RU" sz="2400" dirty="0">
                <a:latin typeface="Times New Roman" panose="02020603050405020304" pitchFamily="18" charset="0"/>
              </a:rPr>
              <a:t>Через </a:t>
            </a:r>
            <a:r>
              <a:rPr lang="en-US" sz="2400" dirty="0">
                <a:latin typeface="Times New Roman" panose="02020603050405020304" pitchFamily="18" charset="0"/>
              </a:rPr>
              <a:t>pip </a:t>
            </a:r>
            <a:r>
              <a:rPr lang="ru-RU" sz="2400" dirty="0">
                <a:latin typeface="Times New Roman" panose="02020603050405020304" pitchFamily="18" charset="0"/>
              </a:rPr>
              <a:t>устанавливаем необходимые библиотеки для </a:t>
            </a:r>
            <a:r>
              <a:rPr lang="en-US" sz="2400" dirty="0">
                <a:latin typeface="Times New Roman" panose="02020603050405020304" pitchFamily="18" charset="0"/>
              </a:rPr>
              <a:t>python3. </a:t>
            </a:r>
            <a:r>
              <a:rPr lang="ru-RU" sz="2400" dirty="0">
                <a:latin typeface="Times New Roman" panose="02020603050405020304" pitchFamily="18" charset="0"/>
              </a:rPr>
              <a:t>Так же скачиваем репозиторий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</a:rPr>
              <a:t>«</a:t>
            </a:r>
            <a:r>
              <a:rPr lang="ru-RU" sz="2400" dirty="0" err="1"/>
              <a:t>noxrepo</a:t>
            </a:r>
            <a:r>
              <a:rPr lang="ru-RU" sz="2400" dirty="0"/>
              <a:t>/</a:t>
            </a:r>
            <a:r>
              <a:rPr lang="ru-RU" sz="2400" dirty="0" err="1"/>
              <a:t>pox</a:t>
            </a:r>
            <a:r>
              <a:rPr lang="ru-RU" sz="2400" dirty="0">
                <a:latin typeface="Times New Roman" panose="02020603050405020304" pitchFamily="18" charset="0"/>
              </a:rPr>
              <a:t>» с </a:t>
            </a:r>
            <a:r>
              <a:rPr lang="en-US" sz="2400" dirty="0">
                <a:latin typeface="Times New Roman" panose="02020603050405020304" pitchFamily="18" charset="0"/>
              </a:rPr>
              <a:t>GitHub</a:t>
            </a:r>
            <a:r>
              <a:rPr lang="ru-RU" sz="2400" dirty="0">
                <a:latin typeface="Times New Roman" panose="02020603050405020304" pitchFamily="18" charset="0"/>
              </a:rPr>
              <a:t>, а так же заранее загруженный конфигурационный файл с «</a:t>
            </a:r>
            <a:r>
              <a:rPr lang="ru-RU" sz="2400" dirty="0"/>
              <a:t>P0wix-1/SDN». Переносим наш файл в директорию «/</a:t>
            </a:r>
            <a:r>
              <a:rPr lang="en-US" sz="2400" dirty="0"/>
              <a:t>opt</a:t>
            </a:r>
            <a:r>
              <a:rPr lang="ru-RU" sz="2400" dirty="0"/>
              <a:t>/</a:t>
            </a:r>
            <a:r>
              <a:rPr lang="en-US" sz="2400" dirty="0"/>
              <a:t>pox</a:t>
            </a:r>
            <a:r>
              <a:rPr lang="ru-RU" sz="2400" dirty="0"/>
              <a:t>/</a:t>
            </a:r>
            <a:r>
              <a:rPr lang="en-US" sz="2400" dirty="0" err="1"/>
              <a:t>ext</a:t>
            </a:r>
            <a:r>
              <a:rPr lang="ru-RU" sz="2400" dirty="0"/>
              <a:t>» и запускаем </a:t>
            </a:r>
            <a:r>
              <a:rPr lang="en-US" sz="2400" dirty="0"/>
              <a:t>SDN </a:t>
            </a:r>
            <a:r>
              <a:rPr lang="ru-RU" sz="2400" dirty="0"/>
              <a:t>по команде «</a:t>
            </a:r>
            <a:r>
              <a:rPr lang="en-US" sz="2400" dirty="0"/>
              <a:t>cd</a:t>
            </a:r>
            <a:r>
              <a:rPr lang="ru-RU" sz="2400" dirty="0"/>
              <a:t> /</a:t>
            </a:r>
            <a:r>
              <a:rPr lang="en-US" sz="2400" dirty="0"/>
              <a:t>opt</a:t>
            </a:r>
            <a:r>
              <a:rPr lang="ru-RU" sz="2400" dirty="0"/>
              <a:t>/</a:t>
            </a:r>
            <a:r>
              <a:rPr lang="en-US" sz="2400" dirty="0"/>
              <a:t>pox</a:t>
            </a:r>
            <a:r>
              <a:rPr lang="ru-RU" sz="2400" dirty="0"/>
              <a:t> &amp;&amp; ./pox.py </a:t>
            </a:r>
            <a:r>
              <a:rPr lang="en-US" sz="2400" dirty="0"/>
              <a:t>forwarding.l2_learning</a:t>
            </a:r>
            <a:r>
              <a:rPr lang="ru-RU" sz="2400" dirty="0"/>
              <a:t>».</a:t>
            </a:r>
            <a:r>
              <a:rPr lang="en-US" sz="2400" dirty="0"/>
              <a:t> </a:t>
            </a:r>
            <a:r>
              <a:rPr lang="ru-RU" sz="2400" dirty="0"/>
              <a:t>Проверяем подключение и тестируем на машине которая подключена к нашему коммутатору.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C64125D-0EC6-D978-C141-5358900F8AE3}"/>
              </a:ext>
            </a:extLst>
          </p:cNvPr>
          <p:cNvSpPr/>
          <p:nvPr/>
        </p:nvSpPr>
        <p:spPr>
          <a:xfrm>
            <a:off x="12822148" y="7767263"/>
            <a:ext cx="1695236" cy="34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1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369" y="552807"/>
            <a:ext cx="13064371" cy="597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Заключение: будущее автоматического управления SDN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69369" y="1437323"/>
            <a:ext cx="10955655" cy="119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00"/>
              </a:lnSpc>
              <a:buNone/>
            </a:pPr>
            <a:r>
              <a:rPr lang="en-US" sz="7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Будущее уже наступило</a:t>
            </a:r>
            <a:endParaRPr lang="en-US" sz="7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033" y="3043833"/>
            <a:ext cx="3356610" cy="229516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638" y="3043833"/>
            <a:ext cx="3356610" cy="2295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369" y="5678448"/>
            <a:ext cx="13291661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SDN — это не просто технология, это фундамент для создания по-настоящему гибких, масштабируемых и полностью управляемых сетей завтрашнего дня.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56191" y="6792158"/>
            <a:ext cx="13004840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Автоматизация SDN </a:t>
            </a:r>
            <a:r>
              <a:rPr lang="en-US" sz="1850" dirty="0">
                <a:solidFill>
                  <a:srgbClr val="04318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значительно снижает операционные издержки</a:t>
            </a:r>
            <a:r>
              <a:rPr lang="en-US" sz="1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и позволяет бизнесу быстрее внедрять инновационные сервисы. Начните переход к интеллектуальному управлению сетью сегодня!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669369" y="6505337"/>
            <a:ext cx="22860" cy="1171337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D0F4070-7AE4-816F-1BDB-B65A42446F8D}"/>
              </a:ext>
            </a:extLst>
          </p:cNvPr>
          <p:cNvSpPr/>
          <p:nvPr/>
        </p:nvSpPr>
        <p:spPr>
          <a:xfrm>
            <a:off x="12822148" y="7767263"/>
            <a:ext cx="1695236" cy="349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589</Words>
  <Application>Microsoft Office PowerPoint</Application>
  <PresentationFormat>Произвольный</PresentationFormat>
  <Paragraphs>61</Paragraphs>
  <Slides>10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Calibri</vt:lpstr>
      <vt:lpstr>Noto Sans</vt:lpstr>
      <vt:lpstr>Times New Roman</vt:lpstr>
      <vt:lpstr>Crimson Pro Semi Bold</vt:lpstr>
      <vt:lpstr>Heebo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ilsur</cp:lastModifiedBy>
  <cp:revision>7</cp:revision>
  <dcterms:created xsi:type="dcterms:W3CDTF">2025-10-31T07:26:17Z</dcterms:created>
  <dcterms:modified xsi:type="dcterms:W3CDTF">2025-11-09T17:02:03Z</dcterms:modified>
</cp:coreProperties>
</file>